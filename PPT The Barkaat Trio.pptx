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62" r:id="rId3"/>
    <p:sldId id="257" r:id="rId4"/>
    <p:sldId id="258" r:id="rId5"/>
    <p:sldId id="259" r:id="rId6"/>
    <p:sldId id="260" r:id="rId7"/>
    <p:sldId id="261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226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ROI (×)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1CF6-4C38-BA16-F649EF338518}"/>
              </c:ext>
            </c:extLst>
          </c:dPt>
          <c:dPt>
            <c:idx val="1"/>
            <c:invertIfNegative val="0"/>
            <c:bubble3D val="0"/>
            <c:spPr>
              <a:solidFill>
                <a:srgbClr val="E53E3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CF6-4C38-BA16-F649EF338518}"/>
              </c:ext>
            </c:extLst>
          </c:dPt>
          <c:dPt>
            <c:idx val="2"/>
            <c:invertIfNegative val="0"/>
            <c:bubble3D val="0"/>
            <c:spPr>
              <a:solidFill>
                <a:srgbClr val="028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CF6-4C38-BA16-F649EF33851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Industry Avg</c:v>
                </c:pt>
                <c:pt idx="1">
                  <c:v>XYZ Current</c:v>
                </c:pt>
                <c:pt idx="2">
                  <c:v>XYZ Target (Yr 3)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0.5</c:v>
                </c:pt>
                <c:pt idx="2">
                  <c:v>3.2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CF6-4C38-BA16-F649EF33851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"/>
          <c:min val="0"/>
        </c:scaling>
        <c:delete val="0"/>
        <c:axPos val="l"/>
        <c:majorGridlines>
          <c:spPr>
            <a:ln w="6350" cap="flat">
              <a:solidFill>
                <a:srgbClr val="E8ED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Year 1 ($M)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Admin AI (RCM)</c:v>
                </c:pt>
                <c:pt idx="1">
                  <c:v>Bed Management</c:v>
                </c:pt>
                <c:pt idx="2">
                  <c:v>Clinical AI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6.5</c:v>
                </c:pt>
                <c:pt idx="1">
                  <c:v>4</c:v>
                </c:pt>
                <c:pt idx="2">
                  <c:v>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C97-411C-9FDB-FA4D37BF1AB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Year 3 ($M)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Admin AI (RCM)</c:v>
                </c:pt>
                <c:pt idx="1">
                  <c:v>Bed Management</c:v>
                </c:pt>
                <c:pt idx="2">
                  <c:v>Clinical AI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15</c:v>
                </c:pt>
                <c:pt idx="1">
                  <c:v>10</c:v>
                </c:pt>
                <c:pt idx="2">
                  <c:v>6.5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C97-411C-9FDB-FA4D37BF1AB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D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38807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320040" cy="5079492"/>
          </a:xfrm>
          <a:prstGeom prst="rect">
            <a:avLst/>
          </a:prstGeom>
          <a:solidFill>
            <a:srgbClr val="141A4A"/>
          </a:solidFill>
          <a:ln w="12700">
            <a:solidFill>
              <a:srgbClr val="141A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" y="2194560"/>
            <a:ext cx="164592" cy="16459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532120" y="523199"/>
            <a:ext cx="2926080" cy="2926080"/>
          </a:xfrm>
          <a:prstGeom prst="ellipse">
            <a:avLst/>
          </a:prstGeom>
          <a:solidFill>
            <a:srgbClr val="02C39A">
              <a:alpha val="12000"/>
            </a:srgbClr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89320" y="807720"/>
            <a:ext cx="2194560" cy="2194560"/>
          </a:xfrm>
          <a:prstGeom prst="ellipse">
            <a:avLst/>
          </a:prstGeom>
          <a:solidFill>
            <a:srgbClr val="02C39A">
              <a:alpha val="2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63951" y="1371600"/>
            <a:ext cx="1747935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$50M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02920" y="502920"/>
            <a:ext cx="6035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STRAT_EDGE  ·  ASAAS FEST  ·  DEPT. OF BUSINESS ADMINISTRATION, AMU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02920" y="96012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$50 Million Question: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02920" y="155448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XYZ Healthcare Make AI Pay?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502920" y="2240280"/>
            <a:ext cx="292608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395728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Value Recovery Plan for XYZ Healthcare Leadership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4526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McKinsey &amp; Company | Grand View Research | Becker's Hospital Review | Strativera | Emorphis Health</a:t>
            </a:r>
            <a:endParaRPr lang="en-US" sz="7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4253BE1-7B9D-5E85-5C6E-8DDA7D6ADD2F}"/>
              </a:ext>
            </a:extLst>
          </p:cNvPr>
          <p:cNvSpPr txBox="1"/>
          <p:nvPr/>
        </p:nvSpPr>
        <p:spPr>
          <a:xfrm>
            <a:off x="502920" y="3632159"/>
            <a:ext cx="757123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 </a:t>
            </a: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r>
              <a:rPr lang="en-US" sz="18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Barkaat</a:t>
            </a: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Trio</a:t>
            </a:r>
            <a:r>
              <a:rPr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>
              <a:solidFill>
                <a:srgbClr val="64748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Competition:</a:t>
            </a:r>
            <a:r>
              <a:rPr lang="en-US" sz="18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STRAT_EDGE Case Competition </a:t>
            </a:r>
          </a:p>
          <a:p>
            <a:pPr marL="0" indent="0">
              <a:buNone/>
            </a:pPr>
            <a:r>
              <a:rPr lang="en-US" sz="1800" b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  </a:t>
            </a: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</a:t>
            </a: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509D475-D463-4FB2-B433-2095BAEF2D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4" y="15018"/>
            <a:ext cx="9129551" cy="5113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8614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2296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43000" y="73152"/>
            <a:ext cx="7818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Diagnostic: XYZ Has a $25M Value Gap — Not a Tech Problem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143000" y="530352"/>
            <a:ext cx="7818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adoption is widespread — but 94.5% of organizations, including XYZ, fail to see meaningful financial returns  (McKinsey, March 2025)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143000" y="822960"/>
            <a:ext cx="7772400" cy="0"/>
          </a:xfrm>
          <a:prstGeom prst="line">
            <a:avLst/>
          </a:prstGeom>
          <a:noFill/>
          <a:ln w="19050">
            <a:solidFill>
              <a:srgbClr val="E8ED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3000" y="914400"/>
            <a:ext cx="182880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143000" y="914400"/>
            <a:ext cx="18288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34440" y="10058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Investment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216152" y="1188720"/>
            <a:ext cx="16824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$50M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234440" y="171907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2-year total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136392" y="914400"/>
            <a:ext cx="182880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36392" y="914400"/>
            <a:ext cx="182880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27832" y="10058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Captured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209544" y="1188720"/>
            <a:ext cx="16824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$25M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3227832" y="171907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$15M savings + $10M revenue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129784" y="914400"/>
            <a:ext cx="182880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129784" y="914400"/>
            <a:ext cx="1828800" cy="73152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21224" y="10058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ROI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202936" y="1188720"/>
            <a:ext cx="16824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0.5×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5221224" y="171907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3.2× industry benchmark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7123176" y="914400"/>
            <a:ext cx="182880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123176" y="914400"/>
            <a:ext cx="18288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14616" y="10058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Trust AI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196328" y="1188720"/>
            <a:ext cx="16824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7214616" y="171907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57% fear job loss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1143000" y="2395728"/>
            <a:ext cx="3657600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143000" y="2395728"/>
            <a:ext cx="3657600" cy="3017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207008" y="2395728"/>
            <a:ext cx="3529584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STRUCTURAL FAILURES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234440" y="2843784"/>
            <a:ext cx="256032" cy="25603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234440" y="284378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1572768" y="2798064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 Silo Problem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572768" y="2999232"/>
            <a:ext cx="221284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runs outside Electronic Health Records — forcing platform switches, killing usage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1234440" y="3337560"/>
            <a:ext cx="256032" cy="25603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234440" y="33375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1572768" y="329184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Clinical Co-Design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572768" y="3493008"/>
            <a:ext cx="221284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IT/Admin deployed clinical AI without senior clinician involvement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1234440" y="3831336"/>
            <a:ext cx="256032" cy="25603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234440" y="383133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1572768" y="3785616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Deficit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572768" y="3986784"/>
            <a:ext cx="221284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 2-day one-time session — 59% still feel undertrained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1234440" y="4325112"/>
            <a:ext cx="256032" cy="25603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234440" y="432511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1572768" y="4279392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Strategic Focus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572768" y="4480560"/>
            <a:ext cx="221284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deployed everywhere at once; no prioritization of high-ROI use cases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5029200" y="2395728"/>
            <a:ext cx="38862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5029200" y="2395728"/>
            <a:ext cx="3886200" cy="3017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93208" y="2395728"/>
            <a:ext cx="3749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SENTIMENT SURVEY (2025)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093208" y="2807208"/>
            <a:ext cx="1572768" cy="23774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improves my productivity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6720840" y="2862072"/>
            <a:ext cx="2926080" cy="146304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720840" y="2862072"/>
            <a:ext cx="1814170" cy="14630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580730" y="2843784"/>
            <a:ext cx="384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5093208" y="3090672"/>
            <a:ext cx="1572768" cy="23774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trust AI recommendations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6720840" y="3145536"/>
            <a:ext cx="2926080" cy="146304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720840" y="3145536"/>
            <a:ext cx="1111910" cy="14630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878470" y="3127248"/>
            <a:ext cx="384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5093208" y="3374136"/>
            <a:ext cx="1572768" cy="23774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threatens my job security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6720840" y="3429000"/>
            <a:ext cx="2926080" cy="146304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720840" y="3429000"/>
            <a:ext cx="1667866" cy="146304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434426" y="3410712"/>
            <a:ext cx="384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57%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5029200" y="3785616"/>
            <a:ext cx="3886200" cy="1078992"/>
          </a:xfrm>
          <a:prstGeom prst="rect">
            <a:avLst/>
          </a:prstGeom>
          <a:solidFill>
            <a:srgbClr val="FFF7ED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138928" y="3822192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IBM Watson Health: A $5B Lesson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5138928" y="4078224"/>
            <a:ext cx="370332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Watson failed not due to weak AI, but due to: </a:t>
            </a:r>
            <a:endParaRPr lang="en-US" sz="800" dirty="0"/>
          </a:p>
          <a:p>
            <a:pPr marL="0" indent="0">
              <a:buNone/>
            </a:pPr>
            <a:r>
              <a:rPr lang="en-US" sz="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EHR integration  •  Low clinician trust  •  No clear ROI</a:t>
            </a:r>
            <a:endParaRPr lang="en-US" sz="800" dirty="0"/>
          </a:p>
          <a:p>
            <a:pPr marL="0" indent="0">
              <a:buNone/>
            </a:pPr>
            <a:r>
              <a:rPr lang="en-US" sz="800" i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XYZ is showing all three warning signs. Act now.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1143000" y="4956048"/>
            <a:ext cx="7818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McKinsey State of AI (March 2025, n=1,993) | XYZ Internal Survey (2025) | Healthcare Dive (Oct 2025)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2296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43000" y="73152"/>
            <a:ext cx="7818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Prioritization: The AI Value Leakage Model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143000" y="521208"/>
            <a:ext cx="7818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deploying more AI — Start recovering value from the AI you already own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143000" y="795528"/>
            <a:ext cx="7772400" cy="0"/>
          </a:xfrm>
          <a:prstGeom prst="line">
            <a:avLst/>
          </a:prstGeom>
          <a:noFill/>
          <a:ln w="19050">
            <a:solidFill>
              <a:srgbClr val="E8ED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3000" y="932688"/>
            <a:ext cx="2423160" cy="2267712"/>
          </a:xfrm>
          <a:prstGeom prst="rect">
            <a:avLst/>
          </a:prstGeom>
          <a:solidFill>
            <a:srgbClr val="F4F7FF"/>
          </a:solidFill>
          <a:ln w="12700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143000" y="932688"/>
            <a:ext cx="2423160" cy="64008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52728" y="10058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01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252728" y="1188720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Failure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252728" y="1517904"/>
            <a:ext cx="219456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 not embedded in EHR — clinicians must switch platforms. Epic-bundled AI achieves 90% adoption vs. 50% for standalone tools.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252728" y="2505456"/>
            <a:ext cx="2194560" cy="475488"/>
          </a:xfrm>
          <a:prstGeom prst="rect">
            <a:avLst/>
          </a:prstGeom>
          <a:solidFill>
            <a:srgbClr val="E6F9F0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07592" y="2542032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Fix: Deep EHR Integration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776472" y="932688"/>
            <a:ext cx="2423160" cy="2267712"/>
          </a:xfrm>
          <a:prstGeom prst="rect">
            <a:avLst/>
          </a:prstGeom>
          <a:solidFill>
            <a:srgbClr val="F4F7FF"/>
          </a:solidFill>
          <a:ln w="12700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776472" y="932688"/>
            <a:ext cx="242316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86200" y="10058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02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886200" y="1188720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Collapse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886200" y="1517904"/>
            <a:ext cx="219456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38% trust AI. High override rates waste the $50M investment. One-time 2-day training is insufficient for culture change.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886200" y="2505456"/>
            <a:ext cx="2194560" cy="475488"/>
          </a:xfrm>
          <a:prstGeom prst="rect">
            <a:avLst/>
          </a:prstGeom>
          <a:solidFill>
            <a:srgbClr val="E6F9F0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41064" y="2542032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Fix: AI Academy (CommonSpirit model)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409944" y="932688"/>
            <a:ext cx="2423160" cy="2267712"/>
          </a:xfrm>
          <a:prstGeom prst="rect">
            <a:avLst/>
          </a:prstGeom>
          <a:solidFill>
            <a:srgbClr val="F4F7FF"/>
          </a:solidFill>
          <a:ln w="12700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09944" y="932688"/>
            <a:ext cx="2423160" cy="640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19672" y="10058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03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6519672" y="1188720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Prioritization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519672" y="1517904"/>
            <a:ext cx="2194560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spread across all AI simultaneously. No focus on high-ROI use cases. Admin AI has fastest payback (12–18 months).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519672" y="2505456"/>
            <a:ext cx="2194560" cy="475488"/>
          </a:xfrm>
          <a:prstGeom prst="rect">
            <a:avLst/>
          </a:prstGeom>
          <a:solidFill>
            <a:srgbClr val="E6F9F0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74536" y="2542032"/>
            <a:ext cx="2084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Fix: Focus on Top 2 Revenue Levers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143000" y="3328416"/>
            <a:ext cx="7772400" cy="3017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207008" y="3328416"/>
            <a:ext cx="7589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USE CASE PRIORITIZATION MATRIX</a:t>
            </a:r>
            <a:endParaRPr lang="en-US" sz="9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43000" y="3630168"/>
          <a:ext cx="7772400" cy="123444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Use Case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>
                    <a:lnL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>
                    <a:lnL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Payback Period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>
                    <a:lnL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Incremental Value (Yr 1)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>
                    <a:lnL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>
                    <a:lnL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AI: RCM / Billing &amp; Coding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>
                    <a:lnL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🔥 HIGHEST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>
                    <a:lnL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12–18 months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>
                    <a:lnL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$5M – $8M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>
                    <a:lnL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Integrate NOW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>
                    <a:lnL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Operational: Bed Management &amp; Readmission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>
                    <a:lnL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🔥 HIGH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>
                    <a:lnL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12–18 months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>
                    <a:lnL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$3M – $5M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>
                    <a:lnL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 Fast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>
                    <a:lnL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Clinical: Radiology / Pathology AI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>
                    <a:lnL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>
                    <a:lnL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24–36 months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>
                    <a:lnL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$2M – $3M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>
                    <a:lnL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EHR-integrate first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>
                    <a:lnL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Chatbots &amp; Predictive Disease Models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>
                    <a:lnL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E53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>
                    <a:lnL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36+ months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>
                    <a:lnL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Unclear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>
                    <a:lnL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 spending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54864" marB="54864">
                    <a:lnL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2" name="Text 29"/>
          <p:cNvSpPr/>
          <p:nvPr/>
        </p:nvSpPr>
        <p:spPr>
          <a:xfrm>
            <a:off x="1143000" y="4965192"/>
            <a:ext cx="78181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McKinsey State of AI (Mar 2025) | HealthIT.gov (2024) | Strativera (2025) | Emorphis Health (2026) | Axis Intelligence (2025)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2296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43000" y="73152"/>
            <a:ext cx="7818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Impact: Path from 0.5× to 3.2× ROI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143000" y="521208"/>
            <a:ext cx="7818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Fixing EHR integration + launching AI Academy can unlock $25M–$38M in additional annual value by Year 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143000" y="795528"/>
            <a:ext cx="7772400" cy="0"/>
          </a:xfrm>
          <a:prstGeom prst="line">
            <a:avLst/>
          </a:prstGeom>
          <a:noFill/>
          <a:ln w="19050">
            <a:solidFill>
              <a:srgbClr val="E8ED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3000" y="932688"/>
            <a:ext cx="3154680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143000" y="932688"/>
            <a:ext cx="3154680" cy="32918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34440" y="932688"/>
            <a:ext cx="2971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GAP ANALYSIS</a:t>
            </a:r>
            <a:endParaRPr lang="en-US" sz="90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1188720" y="1280160"/>
          <a:ext cx="301752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Text 9"/>
          <p:cNvSpPr/>
          <p:nvPr/>
        </p:nvSpPr>
        <p:spPr>
          <a:xfrm>
            <a:off x="1207008" y="3429000"/>
            <a:ext cx="2971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XYZ is operating at just 0.5× ROI — 6× below industry high-performer benchmark of 3.2×  (Strativera, 2025)</a:t>
            </a:r>
            <a:endParaRPr lang="en-US" sz="7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88720" y="3822192"/>
          <a:ext cx="3035808" cy="94488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21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21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>
                    <a:lnL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 (Pre-AI)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>
                    <a:lnL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 (Post-AI)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>
                    <a:lnL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Operating Cost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>
                    <a:lnL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$320M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>
                    <a:lnL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$305M  ↓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>
                    <a:lnL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>
                    <a:lnL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$400M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>
                    <a:lnL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$410M  ↑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>
                    <a:lnL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 Utilization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>
                    <a:lnL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>
                    <a:lnL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74%  ↑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>
                    <a:lnL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Wait Time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>
                    <a:lnL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 min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>
                    <a:lnL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 min  ↓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>
                    <a:lnL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4480560" y="932688"/>
            <a:ext cx="4434840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DF5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480560" y="932688"/>
            <a:ext cx="4434840" cy="32918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572000" y="932688"/>
            <a:ext cx="4251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3-YEAR VALUE UNLOCK PROJECTION</a:t>
            </a:r>
            <a:endParaRPr lang="en-US" sz="900" dirty="0"/>
          </a:p>
        </p:txBody>
      </p:sp>
      <p:graphicFrame>
        <p:nvGraphicFramePr>
          <p:cNvPr id="17" name="Chart 1"/>
          <p:cNvGraphicFramePr/>
          <p:nvPr/>
        </p:nvGraphicFramePr>
        <p:xfrm>
          <a:off x="4572000" y="1325880"/>
          <a:ext cx="4206240" cy="2240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8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3602736"/>
          <a:ext cx="4251960" cy="143256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Initiative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>
                    <a:lnL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1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>
                    <a:lnL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3 (Annual)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>
                    <a:lnL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 Source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>
                    <a:lnL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AI (RCM + Billing)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>
                    <a:lnL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$5–8M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>
                    <a:lnL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$12–18M/yr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>
                    <a:lnL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Axis Intel / Strativera 2025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>
                    <a:lnL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 Mgmt &amp; Readmissions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>
                    <a:lnL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$3–5M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>
                    <a:lnL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$8–12M/yr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>
                    <a:lnL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Johns Hopkins / PMC 2025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>
                    <a:lnL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Clinical AI (EHR-integrated)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>
                    <a:lnL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$2–3M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>
                    <a:lnL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$5–8M/yr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>
                    <a:lnL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6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arXiv 2025 / Signity 2025</a:t>
                      </a:r>
                      <a:endParaRPr lang="en-US" sz="6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>
                    <a:lnL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VALUE UNLOCK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>
                    <a:lnL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$10–16M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>
                    <a:lnL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$25–38M/yr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>
                    <a:lnL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02C3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Payback by Yr 2.5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>
                    <a:lnL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D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" name="Shape 13"/>
          <p:cNvSpPr/>
          <p:nvPr/>
        </p:nvSpPr>
        <p:spPr>
          <a:xfrm>
            <a:off x="4572000" y="4700016"/>
            <a:ext cx="4251960" cy="274320"/>
          </a:xfrm>
          <a:prstGeom prst="rect">
            <a:avLst/>
          </a:prstGeom>
          <a:solidFill>
            <a:srgbClr val="FFF7ED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4645152" y="470001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Each avoided readmission saves ~$15,200 | Bed utilization → 85% unlocks ~$25–30M in revenue</a:t>
            </a:r>
            <a:endParaRPr lang="en-US" sz="750" dirty="0"/>
          </a:p>
        </p:txBody>
      </p:sp>
      <p:sp>
        <p:nvSpPr>
          <p:cNvPr id="21" name="Text 15"/>
          <p:cNvSpPr/>
          <p:nvPr/>
        </p:nvSpPr>
        <p:spPr>
          <a:xfrm>
            <a:off x="1143000" y="4983480"/>
            <a:ext cx="78181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Strativera (Oct 2025) | Axis Intelligence (Jun 2025) | PMC 2025 | arXiv 2025 | Johns Hopkins study (Axis 2025)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64008"/>
            <a:ext cx="822960" cy="2834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64008"/>
            <a:ext cx="8229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70432" y="73152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Roadmap &amp; Change Management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170432" y="493776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Deployment to Value: 3-Phase AI Value Recovery Plan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170432" y="768096"/>
            <a:ext cx="7772400" cy="0"/>
          </a:xfrm>
          <a:prstGeom prst="line">
            <a:avLst/>
          </a:prstGeom>
          <a:noFill/>
          <a:ln w="12700">
            <a:solidFill>
              <a:srgbClr val="2D3A6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3941" y="932688"/>
            <a:ext cx="2743200" cy="3017520"/>
          </a:xfrm>
          <a:prstGeom prst="rect">
            <a:avLst/>
          </a:prstGeom>
          <a:solidFill>
            <a:srgbClr val="1A2358"/>
          </a:solidFill>
          <a:ln w="12700">
            <a:solidFill>
              <a:srgbClr val="2D3D7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8056" y="1005840"/>
            <a:ext cx="914400" cy="21945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" y="1005840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STABILIZE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48056" y="1234440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48056" y="1463040"/>
            <a:ext cx="2487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– 3 Months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48056" y="1810512"/>
            <a:ext cx="128016" cy="12801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" y="1737360"/>
            <a:ext cx="230428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Clinical Council: Senior doctors lead AI re-design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48056" y="2249424"/>
            <a:ext cx="128016" cy="12801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" y="2176272"/>
            <a:ext cx="230428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Clinician Program: IT developers observe real-world workflows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48056" y="2688336"/>
            <a:ext cx="128016" cy="12801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" y="2615184"/>
            <a:ext cx="230428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 Integration Sprint: Remove platform-switching for top 2 AI tools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48056" y="3127248"/>
            <a:ext cx="128016" cy="12801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" y="3054096"/>
            <a:ext cx="230428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Rebrand: Position AI as 'Clinical Co-Pilot', not replacement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29768" y="3657600"/>
            <a:ext cx="2523744" cy="201168"/>
          </a:xfrm>
          <a:prstGeom prst="rect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" y="3657600"/>
            <a:ext cx="2450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Override rate ↓ 20% in 90 days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3291840" y="932688"/>
            <a:ext cx="2743200" cy="3017520"/>
          </a:xfrm>
          <a:prstGeom prst="rect">
            <a:avLst/>
          </a:prstGeom>
          <a:solidFill>
            <a:srgbClr val="1A2358"/>
          </a:solidFill>
          <a:ln w="12700">
            <a:solidFill>
              <a:srgbClr val="2D3D7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01568" y="1005840"/>
            <a:ext cx="914400" cy="21945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01568" y="1005840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VALUE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3419856" y="1234440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419856" y="1463040"/>
            <a:ext cx="2487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– 9 Months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419856" y="1810512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1737360"/>
            <a:ext cx="230428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AI Academy (9 courses, 16 micro-modules — CommonSpirit model)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419856" y="2249424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02736" y="2176272"/>
            <a:ext cx="230428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RCM + Billing AI integration → Target $5–8M savings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3419856" y="2688336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02736" y="2615184"/>
            <a:ext cx="230428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 Management AI: Push utilization from 74% → 82% (→ ~$15M revenue)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3419856" y="3127248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02736" y="3054096"/>
            <a:ext cx="230428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incentives tied to AI adoption KPIs per department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3401568" y="3657600"/>
            <a:ext cx="2523744" cy="201168"/>
          </a:xfrm>
          <a:prstGeom prst="rect">
            <a:avLst/>
          </a:prstGeom>
          <a:solidFill>
            <a:srgbClr val="02C39A">
              <a:alpha val="2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38144" y="3657600"/>
            <a:ext cx="2450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ROI improves from 0.5× → 1.5×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6263640" y="932688"/>
            <a:ext cx="2743200" cy="3017520"/>
          </a:xfrm>
          <a:prstGeom prst="rect">
            <a:avLst/>
          </a:prstGeom>
          <a:solidFill>
            <a:srgbClr val="1A2358"/>
          </a:solidFill>
          <a:ln w="12700">
            <a:solidFill>
              <a:srgbClr val="2D3D7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73368" y="1005840"/>
            <a:ext cx="914400" cy="219456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73368" y="1005840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6391656" y="1234440"/>
            <a:ext cx="2487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391656" y="1463040"/>
            <a:ext cx="2487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– 18 Months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391656" y="1810512"/>
            <a:ext cx="128016" cy="128016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74536" y="1737360"/>
            <a:ext cx="230428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AI (Radiology / Sepsis detection): fully EHR-embedded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6391656" y="2249424"/>
            <a:ext cx="128016" cy="128016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74536" y="2176272"/>
            <a:ext cx="230428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governance from IT to AI Centre of Excellence (CoE)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6391656" y="2688336"/>
            <a:ext cx="128016" cy="128016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74536" y="2615184"/>
            <a:ext cx="230428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ABDM Integration: Link 1.8M patient data to India's 799M health IDs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6391656" y="3127248"/>
            <a:ext cx="128016" cy="128016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574536" y="3054096"/>
            <a:ext cx="230428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metrics shift: from wait times → EBITDA margin per procedure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6373368" y="3657600"/>
            <a:ext cx="2523744" cy="201168"/>
          </a:xfrm>
          <a:prstGeom prst="rect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09944" y="3657600"/>
            <a:ext cx="24505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Target 3.2× ROI benchmark by Month 18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320040" y="4023360"/>
            <a:ext cx="8595360" cy="804672"/>
          </a:xfrm>
          <a:prstGeom prst="rect">
            <a:avLst/>
          </a:prstGeom>
          <a:solidFill>
            <a:srgbClr val="141A4A"/>
          </a:solidFill>
          <a:ln w="12700">
            <a:solidFill>
              <a:srgbClr val="2D3D7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7200" y="4041648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MANAGEMENT: THE TRUST EQUATION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457200" y="4279392"/>
            <a:ext cx="54864" cy="42062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85216" y="4279392"/>
            <a:ext cx="19385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585216" y="4462272"/>
            <a:ext cx="19385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from 'black box' to transparent recommendations — clinicians need the WHY, not just WHAT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2615184" y="4279392"/>
            <a:ext cx="54864" cy="42062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743200" y="4279392"/>
            <a:ext cx="19385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ROI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2743200" y="4462272"/>
            <a:ext cx="19385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Replacing 1 physician costs 2–3× salary. AI reduces 'pajama time' 60% (Univ. Vermont trial)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4773168" y="4279392"/>
            <a:ext cx="54864" cy="42062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901184" y="4279392"/>
            <a:ext cx="19385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ABDM Advantage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4901184" y="4462272"/>
            <a:ext cx="19385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XYZ's 1.8M patients to India's 799M digital health IDs — unmatched predictive data moat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6931152" y="4279392"/>
            <a:ext cx="54864" cy="42062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059168" y="4279392"/>
            <a:ext cx="19385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Watson Lesson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7059168" y="4462272"/>
            <a:ext cx="19385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Watson's $5B failure = no EHR integration + no trust. XYZ's plan directly addresses both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320040" y="4974336"/>
            <a:ext cx="85953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i="1" dirty="0">
                <a:solidFill>
                  <a:srgbClr val="4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CommonSpirit AI Academy (Becker's, Jan 2026) | University of Vermont AI Scribe Study | PIB India (Feb 2026) | NCBI JAMIA (May 2025) | Healthcare Dive (Oct 2025)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0" y="548640"/>
            <a:ext cx="3291840" cy="3291840"/>
          </a:xfrm>
          <a:prstGeom prst="ellipse">
            <a:avLst/>
          </a:prstGeom>
          <a:solidFill>
            <a:srgbClr val="028090">
              <a:alpha val="10000"/>
            </a:srgbClr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91840" y="914400"/>
            <a:ext cx="2560320" cy="2560320"/>
          </a:xfrm>
          <a:prstGeom prst="ellipse">
            <a:avLst/>
          </a:prstGeom>
          <a:solidFill>
            <a:srgbClr val="028090">
              <a:alpha val="18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21792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Recommendation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987552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XYZ doesn't have an AI problem.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has an</a:t>
            </a: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adoption + integration</a:t>
            </a: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problem.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97280" y="2057400"/>
            <a:ext cx="2194560" cy="1234440"/>
          </a:xfrm>
          <a:prstGeom prst="rect">
            <a:avLst/>
          </a:prstGeom>
          <a:solidFill>
            <a:srgbClr val="1E2A6E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121408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3.2×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097280" y="2615184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ROI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097280" y="2834640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current 0.5×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657600" y="2057400"/>
            <a:ext cx="2194560" cy="1234440"/>
          </a:xfrm>
          <a:prstGeom prst="rect">
            <a:avLst/>
          </a:prstGeom>
          <a:solidFill>
            <a:srgbClr val="1E2A6E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2121408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$38M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657600" y="2615184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Yr 3 Annual Value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657600" y="2834640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unlocked with plan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217920" y="2057400"/>
            <a:ext cx="2194560" cy="1234440"/>
          </a:xfrm>
          <a:prstGeom prst="rect">
            <a:avLst/>
          </a:prstGeom>
          <a:solidFill>
            <a:srgbClr val="1E2A6E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2121408"/>
            <a:ext cx="2194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18mo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217920" y="2615184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Payback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217920" y="2834640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$50M investment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914400" y="342900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AI from a Cost Center → to a Profit Engine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286000" y="3840480"/>
            <a:ext cx="4572000" cy="0"/>
          </a:xfrm>
          <a:prstGeom prst="line">
            <a:avLst/>
          </a:prstGeom>
          <a:noFill/>
          <a:ln w="12700">
            <a:solidFill>
              <a:srgbClr val="2D3D7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3913632"/>
            <a:ext cx="7315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We Welcome Your Questions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4315968"/>
            <a:ext cx="7315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Business Administration · FMSR · Aligarh Muslim University · STRAT_EDGE | ASAAS Fest 2026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754880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4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financial projections are conservative estimates based on benchmarked industry outcomes (Strativera 2025, Axis Intelligence 2025, McKinsey 2025). Actual results depend on execution quality and depth of change management.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</TotalTime>
  <Words>1224</Words>
  <Application>Microsoft Office PowerPoint</Application>
  <PresentationFormat>On-screen Show (16:9)</PresentationFormat>
  <Paragraphs>193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STRAT_EDGE – XYZ Healthcare AI Value Recovery</dc:title>
  <dc:subject>PptxGenJS Presentation</dc:subject>
  <dc:creator>PptxGenJS</dc:creator>
  <cp:lastModifiedBy>Mohd Shaad</cp:lastModifiedBy>
  <cp:revision>4</cp:revision>
  <dcterms:created xsi:type="dcterms:W3CDTF">2026-04-22T19:44:20Z</dcterms:created>
  <dcterms:modified xsi:type="dcterms:W3CDTF">2026-04-23T07:46:32Z</dcterms:modified>
</cp:coreProperties>
</file>